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3DDCDC"/>
                </a:solidFill>
                <a:latin typeface="Aptos"/>
              </a:rPr>
              <a:t>FLOWPILOT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Autonomous Business Process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AAB5CA"/>
                </a:solidFill>
                <a:latin typeface="Aptos"/>
              </a:rPr>
              <a:t>An AI-powered decision &amp; action agent built with n8n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303520" cy="22860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09067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Turn fragmented business requests into
understood → decided → executed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80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B5CA"/>
                </a:solidFill>
                <a:latin typeface="Aptos"/>
              </a:rPr>
              <a:t>Hackathon Solution • AI Agents • n8n • Human-in-the-loop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080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Why repetitive business operations still need so much human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164592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DC"/>
                </a:solidFill>
                <a:latin typeface="Aptos"/>
              </a:rPr>
              <a:t>FRAGMENTED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4663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Requests, emails, spreadsheets, forms and chat messages live in different places.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257800" cy="164592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REPETITIVE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67128"/>
            <a:ext cx="4663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People copy, verify, classify, update and notify—again and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5257800" cy="164592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673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AA46"/>
                </a:solidFill>
                <a:latin typeface="Aptos"/>
              </a:rPr>
              <a:t>DECISION BOTTLENECKS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78808"/>
            <a:ext cx="4663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Simple cases wait for a person because context is scattered.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66160"/>
            <a:ext cx="5257800" cy="164592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767328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8C"/>
                </a:solidFill>
                <a:latin typeface="Aptos"/>
              </a:rPr>
              <a:t>NO END-TO-END 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78808"/>
            <a:ext cx="4663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Most automations move data; they do not understand what should happen next.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Core gap: automation executes rules. Businesses need systems that can understand context, reason, choose, and 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2.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FlowPilot AI — an autonomous operations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72800" cy="438912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DDCDC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7373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331720"/>
            <a:ext cx="54864" cy="141732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4144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816352"/>
            <a:ext cx="14630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Collect requests from email, forms, chat or CRM.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017520"/>
            <a:ext cx="32004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1752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8B5CF6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331720"/>
            <a:ext cx="17373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2331720"/>
            <a:ext cx="54864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44144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816352"/>
            <a:ext cx="14630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LLM extracts intent, entities, urgency and missing information.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79" y="3017520"/>
            <a:ext cx="320041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2064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AA46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331720"/>
            <a:ext cx="17373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331720"/>
            <a:ext cx="54864" cy="1417320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1" y="244144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2816352"/>
            <a:ext cx="14630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AI checks knowledge, policies and business rules.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0" y="3017520"/>
            <a:ext cx="320040" cy="0"/>
          </a:xfrm>
          <a:prstGeom prst="line">
            <a:avLst/>
          </a:prstGeom>
          <a:ln w="25400">
            <a:solidFill>
              <a:srgbClr val="FFA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23759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DDC8C"/>
                </a:solidFill>
                <a:latin typeface="Aptos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59" y="2331720"/>
            <a:ext cx="17373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23759" y="2331720"/>
            <a:ext cx="54864" cy="1417320"/>
          </a:xfrm>
          <a:prstGeom prst="rect">
            <a:avLst/>
          </a:prstGeom>
          <a:solidFill>
            <a:srgbClr val="3D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244144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816352"/>
            <a:ext cx="14630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n8n executes APIs, tasks, updates and messages.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61119" y="3017520"/>
            <a:ext cx="320040" cy="0"/>
          </a:xfrm>
          <a:prstGeom prst="line">
            <a:avLst/>
          </a:prstGeom>
          <a:ln w="25400">
            <a:solidFill>
              <a:srgbClr val="3DD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26880" y="1828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DDCDC"/>
                </a:solidFill>
                <a:latin typeface="Aptos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26880" y="2331720"/>
            <a:ext cx="17373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26880" y="2331720"/>
            <a:ext cx="54864" cy="141732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2441448"/>
            <a:ext cx="14630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2" y="2816352"/>
            <a:ext cx="14630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Log outcomes and feedback for analytics.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0916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Example: “Customer needs an urgent refund” → classify → verify order → apply policy → approve/route → execute → notify →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3. Target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AI-driven customer/service request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663440" cy="448056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DC"/>
                </a:solidFill>
                <a:latin typeface="Aptos"/>
              </a:rPr>
              <a:t>REAL-WORLD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5F7FA"/>
                </a:solidFill>
                <a:latin typeface="Aptos"/>
              </a:rPr>
              <a:t>A business receives hundreds of requests every week.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Requests arrive through multiple channels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Each request needs classification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Policies and customer data must be checked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Some cases can be resolved automatically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Exceptions must reach the right human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417320"/>
            <a:ext cx="5989320" cy="448056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FLOWPILOT DECISION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286000"/>
            <a:ext cx="1600200" cy="9601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286000"/>
            <a:ext cx="54864" cy="96012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239572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Incoming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2770632"/>
            <a:ext cx="1325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286000"/>
            <a:ext cx="1600200" cy="9601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2286000"/>
            <a:ext cx="54864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1" y="239572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AI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2770632"/>
            <a:ext cx="1325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2286000"/>
            <a:ext cx="1600200" cy="9601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21240" y="2286000"/>
            <a:ext cx="54864" cy="960120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39572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Context + policy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2770632"/>
            <a:ext cx="1325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840480"/>
            <a:ext cx="1600200" cy="9601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840480"/>
            <a:ext cx="54864" cy="960120"/>
          </a:xfrm>
          <a:prstGeom prst="rect">
            <a:avLst/>
          </a:prstGeom>
          <a:solidFill>
            <a:srgbClr val="3D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395020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Auto-resolve / escalate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4325112"/>
            <a:ext cx="1325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3840480"/>
            <a:ext cx="1600200" cy="9601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21240" y="3840480"/>
            <a:ext cx="54864" cy="96012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5832" y="395020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Action + notification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5832" y="4325112"/>
            <a:ext cx="132588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89520" y="2761488"/>
            <a:ext cx="32004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55480" y="2761488"/>
            <a:ext cx="32004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698480" y="3246120"/>
            <a:ext cx="0" cy="54864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555480" y="4315968"/>
            <a:ext cx="36576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732520" y="3291840"/>
            <a:ext cx="0" cy="502920"/>
          </a:xfrm>
          <a:prstGeom prst="line">
            <a:avLst/>
          </a:prstGeom>
          <a:ln w="25400">
            <a:solidFill>
              <a:srgbClr val="3DD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4. n8n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Composable automation with AI reasoning at the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41732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1417320"/>
            <a:ext cx="54864" cy="77724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152704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Gmail / 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1992" y="190195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00600" y="1810512"/>
            <a:ext cx="347472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80" y="141732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1417320"/>
            <a:ext cx="54864" cy="77724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152704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Slack /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190195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79" y="1810512"/>
            <a:ext cx="347473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141732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1417320"/>
            <a:ext cx="54864" cy="77724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152704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CRM / ERP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190195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8346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Aptos"/>
              </a:rPr>
              <a:t>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260604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260604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1992" y="27157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LLM / AI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1992" y="309067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0600" y="2999232"/>
            <a:ext cx="347472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12080" y="260604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260604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6672" y="27157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RAG / 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309067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55279" y="2999232"/>
            <a:ext cx="347473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66760" y="260604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66760" y="260604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2" y="27157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Rules +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309067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0233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AA46"/>
                </a:solidFill>
                <a:latin typeface="Aptos"/>
              </a:rPr>
              <a:t>ORCHESTRATION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57400" y="379476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57400" y="3794760"/>
            <a:ext cx="54864" cy="777240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1992" y="3904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n8n workflows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1992" y="427939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00600" y="4187952"/>
            <a:ext cx="347472" cy="0"/>
          </a:xfrm>
          <a:prstGeom prst="line">
            <a:avLst/>
          </a:prstGeom>
          <a:ln w="25400">
            <a:solidFill>
              <a:srgbClr val="FFA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212080" y="379476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12080" y="3794760"/>
            <a:ext cx="54864" cy="777240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3904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Conditional routing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427939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55279" y="4187952"/>
            <a:ext cx="347473" cy="0"/>
          </a:xfrm>
          <a:prstGeom prst="line">
            <a:avLst/>
          </a:prstGeom>
          <a:ln w="25400">
            <a:solidFill>
              <a:srgbClr val="FFA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366760" y="379476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6760" y="3794760"/>
            <a:ext cx="54864" cy="777240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31352" y="390448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Retries + approvals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1352" y="427939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2120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8C"/>
                </a:solidFill>
                <a:latin typeface="Aptos"/>
              </a:rPr>
              <a:t>ACTIONS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57400" y="498348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57400" y="4983480"/>
            <a:ext cx="54864" cy="777240"/>
          </a:xfrm>
          <a:prstGeom prst="rect">
            <a:avLst/>
          </a:prstGeom>
          <a:solidFill>
            <a:srgbClr val="3D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21992" y="50932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REST APIs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21992" y="546811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800600" y="5376672"/>
            <a:ext cx="347472" cy="0"/>
          </a:xfrm>
          <a:prstGeom prst="line">
            <a:avLst/>
          </a:prstGeom>
          <a:ln w="25400">
            <a:solidFill>
              <a:srgbClr val="3DD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212080" y="498348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12080" y="4983480"/>
            <a:ext cx="54864" cy="777240"/>
          </a:xfrm>
          <a:prstGeom prst="rect">
            <a:avLst/>
          </a:prstGeom>
          <a:solidFill>
            <a:srgbClr val="3D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76672" y="50932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Database / Sheets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6672" y="546811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955279" y="5376672"/>
            <a:ext cx="347473" cy="0"/>
          </a:xfrm>
          <a:prstGeom prst="line">
            <a:avLst/>
          </a:prstGeom>
          <a:ln w="25400">
            <a:solidFill>
              <a:srgbClr val="3DD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366760" y="4983480"/>
            <a:ext cx="2743200" cy="77724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66760" y="4983480"/>
            <a:ext cx="54864" cy="777240"/>
          </a:xfrm>
          <a:prstGeom prst="rect">
            <a:avLst/>
          </a:prstGeom>
          <a:solidFill>
            <a:srgbClr val="3D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31352" y="509320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Email / Chat / Tasks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31352" y="5468112"/>
            <a:ext cx="2468880" cy="210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/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60807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B5CA"/>
                </a:solidFill>
                <a:latin typeface="Aptos"/>
              </a:rPr>
              <a:t>Human-in-the-loop is triggered only when confidence, risk, or policy requires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5.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What happens after a request enters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7335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1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New email/form/message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2304288"/>
            <a:ext cx="246888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150876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7335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50591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Intent + entities + urgency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304288"/>
            <a:ext cx="246888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150876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7335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574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Retrieve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50591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Customer + policy + history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2304288"/>
            <a:ext cx="246888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89720" y="150876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67335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0574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Reason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50591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AI evaluates possible actions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5760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2219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2062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9943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Rules, confidence &amp; risk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00400" y="4453128"/>
            <a:ext cx="246888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520440" y="365760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82219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2062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Execute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459943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API/database/task action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35040" y="4453128"/>
            <a:ext cx="246888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55080" y="365760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82219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2062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Notify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59943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Customer + team update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69680" y="4453128"/>
            <a:ext cx="246888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89720" y="3657600"/>
            <a:ext cx="2514600" cy="16002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3822191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DDCDC"/>
                </a:solidFill>
                <a:latin typeface="Aptos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2062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Log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59943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AAB5CA"/>
                </a:solidFill>
                <a:latin typeface="Aptos"/>
              </a:rPr>
              <a:t>Outcome, audit trail &amp; 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0807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The key difference: every step is connected by context, not just by data movement.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6. AI Agent Decision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Multi-step reasoning without giving the model unrestricted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6400800" cy="448056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AGENT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DCD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1031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AB5CA"/>
                </a:solidFill>
                <a:latin typeface="Aptos"/>
              </a:rPr>
              <a:t>Read request + available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9191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DCDC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79191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679191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AB5CA"/>
                </a:solidFill>
                <a:latin typeface="Aptos"/>
              </a:rPr>
              <a:t>Identify intent and candidate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55263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DCDC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255263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55263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AB5CA"/>
                </a:solidFill>
                <a:latin typeface="Aptos"/>
              </a:rPr>
              <a:t>Verify policy, data and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31335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DCDC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31335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Choose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831335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AB5CA"/>
                </a:solidFill>
                <a:latin typeface="Aptos"/>
              </a:rPr>
              <a:t>Select action or escalation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0740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DCDC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07408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40740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AB5CA"/>
                </a:solidFill>
                <a:latin typeface="Aptos"/>
              </a:rPr>
              <a:t>Call only approved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8347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DDCDC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83479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Aptos"/>
              </a:rPr>
              <a:t>Reflect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983479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AAB5CA"/>
                </a:solidFill>
                <a:latin typeface="Aptos"/>
              </a:rPr>
              <a:t>Record outcome and errors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417320"/>
            <a:ext cx="4343400" cy="448056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AA46"/>
                </a:solidFill>
                <a:latin typeface="Aptos"/>
              </a:rPr>
              <a:t>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194560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Confidence threshold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Policy validation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Tool allow-list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Approval for high-risk actions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Retries + fallback workflow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Complete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074920"/>
            <a:ext cx="3474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AI decides within boundaries.
Humans retain control over exceptions.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7. More Than Simple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Automation + context + reasoning +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35640" cy="114300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AB5CA"/>
                </a:solidFill>
                <a:latin typeface="Aptos"/>
              </a:rPr>
              <a:t>Traditional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If X → do 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28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5CA"/>
                </a:solidFill>
                <a:latin typeface="Aptos"/>
              </a:rPr>
              <a:t>Fixed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08960"/>
            <a:ext cx="10835640" cy="114300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DDCDC"/>
                </a:solidFill>
                <a:latin typeface="Aptos"/>
              </a:rPr>
              <a:t>FlowPilot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337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Understand → reason → decide →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3375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5CA"/>
                </a:solidFill>
                <a:latin typeface="Aptos"/>
              </a:rPr>
              <a:t>Adaptive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8C"/>
                </a:solidFill>
                <a:latin typeface="Aptos"/>
              </a:rPr>
              <a:t>NOVEL CAPABILITY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Handles ambiguous natural-language requests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Pulls context from multiple systems before deciding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Chooses between automation, escalation and approval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Creates an auditable chain of reasoning and actions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Reusable across HR, finance, support, sales and 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8.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What the business gains from autonomous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123444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DDCDC"/>
                </a:solidFill>
                <a:latin typeface="Aptos"/>
              </a:rPr>
              <a:t>↓ Manual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AB5CA"/>
                </a:solidFill>
                <a:latin typeface="Aptos"/>
              </a:rPr>
              <a:t>Less repetitive copying, checking and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08760"/>
            <a:ext cx="2514600" cy="123444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6420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8B5CF6"/>
                </a:solidFill>
                <a:latin typeface="Aptos"/>
              </a:rPr>
              <a:t>24×7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762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AB5CA"/>
                </a:solidFill>
                <a:latin typeface="Aptos"/>
              </a:rPr>
              <a:t>Workflow can process requests continuously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508760"/>
            <a:ext cx="2514600" cy="123444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6420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DDC8C"/>
                </a:solidFill>
                <a:latin typeface="Aptos"/>
              </a:rPr>
              <a:t>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762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AB5CA"/>
                </a:solidFill>
                <a:latin typeface="Aptos"/>
              </a:rPr>
              <a:t>Requests move from intake to action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1508760"/>
            <a:ext cx="2514600" cy="123444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66420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AA46"/>
                </a:solidFill>
                <a:latin typeface="Aptos"/>
              </a:rPr>
              <a:t>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176272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AAB5CA"/>
                </a:solidFill>
                <a:latin typeface="Aptos"/>
              </a:rPr>
              <a:t>Every decision/action can be logged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10607040" cy="224028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29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DC"/>
                </a:solidFill>
                <a:latin typeface="Aptos"/>
              </a:rPr>
              <a:t>MEASURABLE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7763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Average resolution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7763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Automation / auto-resolution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97763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Human escalation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663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First-response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663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Error / rework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663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5F7FA"/>
                </a:solidFill>
                <a:latin typeface="Aptos"/>
              </a:rPr>
              <a:t>• Cost per processed request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9.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A practical hackathon-to-production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DC"/>
                </a:solidFill>
                <a:latin typeface="Aptos"/>
              </a:rPr>
              <a:t>DAY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9659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54864" cy="141732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Problem + workflow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50591"/>
            <a:ext cx="16916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Define requests, policies and metrics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679192"/>
            <a:ext cx="228600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53512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DAY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1965960"/>
            <a:ext cx="19659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53512" y="1965960"/>
            <a:ext cx="54864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07568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n8n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450591"/>
            <a:ext cx="16916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Build triggers, routing, APIs and database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9472" y="2679192"/>
            <a:ext cx="228600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21224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AA46"/>
                </a:solidFill>
                <a:latin typeface="Aptos"/>
              </a:rPr>
              <a:t>DAY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21224" y="1965960"/>
            <a:ext cx="19659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21224" y="1965960"/>
            <a:ext cx="54864" cy="1417320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07568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AI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450591"/>
            <a:ext cx="16916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Add extraction, RAG, reasoning and guardrails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87183" y="2679192"/>
            <a:ext cx="228600" cy="0"/>
          </a:xfrm>
          <a:prstGeom prst="line">
            <a:avLst/>
          </a:prstGeom>
          <a:ln w="25400">
            <a:solidFill>
              <a:srgbClr val="FFA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88936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8C"/>
                </a:solidFill>
                <a:latin typeface="Aptos"/>
              </a:rPr>
              <a:t>DAY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88936" y="1965960"/>
            <a:ext cx="19659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88936" y="1965960"/>
            <a:ext cx="54864" cy="1417320"/>
          </a:xfrm>
          <a:prstGeom prst="rect">
            <a:avLst/>
          </a:prstGeom>
          <a:solidFill>
            <a:srgbClr val="3D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7" y="207568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2450591"/>
            <a:ext cx="16916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Run real scenarios and failure paths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54896" y="2679192"/>
            <a:ext cx="228600" cy="0"/>
          </a:xfrm>
          <a:prstGeom prst="line">
            <a:avLst/>
          </a:prstGeom>
          <a:ln w="25400">
            <a:solidFill>
              <a:srgbClr val="3DD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756648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DC"/>
                </a:solidFill>
                <a:latin typeface="Aptos"/>
              </a:rPr>
              <a:t>DAY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56648" y="1965960"/>
            <a:ext cx="1965960" cy="141732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56648" y="1965960"/>
            <a:ext cx="54864" cy="141732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075688"/>
            <a:ext cx="1691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Demo +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450591"/>
            <a:ext cx="1691639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Dashboard, UX and live end-to-end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60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tos"/>
              </a:rPr>
              <a:t>MVP 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572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n8n • LLM • RAG/vector DB • PostgreSQL • REST APIs • Gmail/Slack •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257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AB5CA"/>
                </a:solidFill>
                <a:latin typeface="Aptos"/>
              </a:rPr>
              <a:t>Modular by design: swap models, tools or data sources without rebuilding the entire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10. Demo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AAB5CA"/>
                </a:solidFill>
                <a:latin typeface="Aptos"/>
              </a:rPr>
              <a:t>One request. One autonomous workflow. Multiple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3DDCDC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5F7FA"/>
                </a:solidFill>
                <a:latin typeface="Aptos"/>
              </a:rPr>
              <a:t>“Customer: I was charged twice. Please refund the duplicate payment.”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88920"/>
            <a:ext cx="1783080" cy="132588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88920"/>
            <a:ext cx="54864" cy="132588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89864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273552"/>
            <a:ext cx="150876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Detect duplicate-charge intent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3447288"/>
            <a:ext cx="256032" cy="0"/>
          </a:xfrm>
          <a:prstGeom prst="line">
            <a:avLst/>
          </a:prstGeom>
          <a:ln w="25400">
            <a:solidFill>
              <a:srgbClr val="3D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9232" y="2788920"/>
            <a:ext cx="1783080" cy="132588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99232" y="2788920"/>
            <a:ext cx="54864" cy="1325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3824" y="289864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3273552"/>
            <a:ext cx="150876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Fetch transaction history + policy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82312" y="3447288"/>
            <a:ext cx="256032" cy="0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84064" y="2788920"/>
            <a:ext cx="1783080" cy="132588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4064" y="2788920"/>
            <a:ext cx="54864" cy="1325880"/>
          </a:xfrm>
          <a:prstGeom prst="rect">
            <a:avLst/>
          </a:prstGeom>
          <a:solidFill>
            <a:srgbClr val="FFA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48655" y="289864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5" y="3273552"/>
            <a:ext cx="150876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Check eligibility + confidence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67144" y="3447288"/>
            <a:ext cx="256031" cy="0"/>
          </a:xfrm>
          <a:prstGeom prst="line">
            <a:avLst/>
          </a:prstGeom>
          <a:ln w="25400">
            <a:solidFill>
              <a:srgbClr val="FFAA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68896" y="2788920"/>
            <a:ext cx="1783080" cy="132588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68896" y="2788920"/>
            <a:ext cx="54864" cy="1325880"/>
          </a:xfrm>
          <a:prstGeom prst="rect">
            <a:avLst/>
          </a:prstGeom>
          <a:solidFill>
            <a:srgbClr val="3D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289864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273552"/>
            <a:ext cx="150876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Create refund / approval task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51976" y="3447288"/>
            <a:ext cx="256032" cy="0"/>
          </a:xfrm>
          <a:prstGeom prst="line">
            <a:avLst/>
          </a:prstGeom>
          <a:ln w="25400">
            <a:solidFill>
              <a:srgbClr val="3DD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53728" y="2788920"/>
            <a:ext cx="1783080" cy="1325880"/>
          </a:xfrm>
          <a:prstGeom prst="roundRect">
            <a:avLst/>
          </a:prstGeom>
          <a:solidFill>
            <a:srgbClr val="19223A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53728" y="2788920"/>
            <a:ext cx="54864" cy="1325880"/>
          </a:xfrm>
          <a:prstGeom prst="rect">
            <a:avLst/>
          </a:prstGeom>
          <a:solidFill>
            <a:srgbClr val="3D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9" y="289864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COMMUNICATE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19" y="3273552"/>
            <a:ext cx="1508760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B5CA"/>
                </a:solidFill>
                <a:latin typeface="Aptos"/>
              </a:rPr>
              <a:t>Send customer confirmation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0916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46"/>
                </a:solidFill>
                <a:latin typeface="Aptos"/>
              </a:rPr>
              <a:t>If policy or confidence fails → human approval queue → action continues after approval.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B5CA"/>
                </a:solidFill>
                <a:latin typeface="Aptos"/>
              </a:rPr>
              <a:t>AI handles reasoning; n8n handles reliable execution.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3DDCDC"/>
                </a:solidFill>
                <a:latin typeface="Aptos"/>
              </a:rPr>
              <a:t>FLOWPILOT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9784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From repetitive tasks to autonomous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B5CF6"/>
                </a:solidFill>
                <a:latin typeface="Aptos"/>
              </a:rPr>
              <a:t>Understand. Decide. Act. Learn.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0698480" cy="1965960"/>
          </a:xfrm>
          <a:prstGeom prst="roundRect">
            <a:avLst/>
          </a:prstGeom>
          <a:solidFill>
            <a:srgbClr val="12192B"/>
          </a:solidFill>
          <a:ln>
            <a:solidFill>
              <a:srgbClr val="28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1012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DDC8C"/>
                </a:solidFill>
                <a:latin typeface="Aptos"/>
              </a:rPr>
              <a:t>WHY IT FITS 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9509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Real-world repetitive process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Information gathered from multiple sources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AI-powered contextual decision making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Multi-step autonomous n8n workflow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Human approval for risky exceptions</a:t>
            </a:r>
          </a:p>
          <a:p>
            <a:pPr>
              <a:spcAft>
                <a:spcPts val="7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• Measurable 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585216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AAB5CA"/>
                </a:solidFill>
                <a:latin typeface="Aptos"/>
              </a:rPr>
              <a:t>AI × Automation × Human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